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del proyecto y estructura general: https://raw.githubusercontent.com/JCEShinno/Proyecto-Modulo-5-Inferencia-Estadistica/main/README.md
- Resultados, variables, gráficos y métricas del análisis: https://raw.githubusercontent.com/JCEShinno/Proyecto-Modulo-5-Inferencia-Estadistica/main/notebooks/proyecto_modulo_5_inferencia.ipynb
- Fotografía de portada: https://www.udel.edu/students/news/2024/april/5-healthy-habits-for-college-students/_jcr_content/portalPostImage.coreimg.jpeg/1714494807590/zumbahealthyhabits.jpeg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Descripción, objetivo, estructura y hallazgos generales del proyecto: https://raw.githubusercontent.com/JCEShinno/Proyecto-Modulo-5-Inferencia-Estadistica/main/README.md
- Pregunta de investigación, hipótesis, diseño metodológico y diccionario de variables: https://raw.githubusercontent.com/JCEShinno/Proyecto-Modulo-5-Inferencia-Estadistica/main/notebooks/proyecto_modulo_5_inferencia.ipynb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Resumen del muestreo estratificado, probabilidades y gráfico del árbol: https://raw.githubusercontent.com/JCEShinno/Proyecto-Modulo-5-Inferencia-Estadistica/main/notebooks/proyecto_modulo_5_inferencia.ipynb
- Hallazgos principales reportados en el repositorio: https://raw.githubusercontent.com/JCEShinno/Proyecto-Modulo-5-Inferencia-Estadistica/main/README.md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Parámetros estimados, probabilidades y gráfico de distribuciones: https://raw.githubusercontent.com/JCEShinno/Proyecto-Modulo-5-Inferencia-Estadistica/main/notebooks/proyecto_modulo_5_inferencia.ipynb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Parámetros poblacionales, resumen del TLC y gráficos de distribuciones muestrales: https://raw.githubusercontent.com/JCEShinno/Proyecto-Modulo-5-Inferencia-Estadistica/main/notebooks/proyecto_modulo_5_inferencia.ipynb
- Hallazgo del TLC resumido en el README del proyecto: https://raw.githubusercontent.com/JCEShinno/Proyecto-Modulo-5-Inferencia-Estadistica/main/README.md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Intervalos de confianza para horas de sueño y actividad física, más gráficos sobre amplitud y tamaño muestral: https://raw.githubusercontent.com/JCEShinno/Proyecto-Modulo-5-Inferencia-Estadistica/main/notebooks/proyecto_modulo_5_inferencia.ipynb
- Hallazgos resumidos sobre amplitud del IC en el README del proyecto: https://raw.githubusercontent.com/JCEShinno/Proyecto-Modulo-5-Inferencia-Estadistica/main/README.md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Resultados de las pruebas de hipótesis, estadísticas t y z, valores p y decisiones: https://raw.githubusercontent.com/JCEShinno/Proyecto-Modulo-5-Inferencia-Estadistica/main/notebooks/proyecto_modulo_5_inferencia.ipynb
- Hallazgos principales del proyecto: https://raw.githubusercontent.com/JCEShinno/Proyecto-Modulo-5-Inferencia-Estadistica/main/README.md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Conclusiones derivadas del README y del notebook del proyecto: https://raw.githubusercontent.com/JCEShinno/Proyecto-Modulo-5-Inferencia-Estadistica/main/README.md
- Resultados estadísticos y hallazgos consolidados: https://raw.githubusercontent.com/JCEShinno/Proyecto-Modulo-5-Inferencia-Estadistica/main/notebooks/proyecto_modulo_5_inferencia.ipynb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itle_students.jpeg">    </p:cNvPr>
          <p:cNvPicPr>
            <a:picLocks noChangeAspect="1"/>
          </p:cNvPicPr>
          <p:nvPr/>
        </p:nvPicPr>
        <p:blipFill>
          <a:blip r:embed="rId1"/>
          <a:srcRect l="3335" r="3335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>
              <a:alpha val="54000"/>
            </a:srgbClr>
          </a:solidFill>
          <a:ln w="12700">
            <a:solidFill>
              <a:srgbClr val="0E1B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640080"/>
            <a:ext cx="4983480" cy="5440680"/>
          </a:xfrm>
          <a:prstGeom prst="roundRect">
            <a:avLst>
              <a:gd name="adj" fmla="val 1284"/>
            </a:avLst>
          </a:prstGeom>
          <a:solidFill>
            <a:srgbClr val="08131F">
              <a:alpha val="82000"/>
            </a:srgbClr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960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84B"/>
                </a:solidFill>
              </a:rPr>
              <a:t>Proyecto Módulo 5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1572768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Inferencia estadística sobre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hábitos saludables en jóvenes universitarios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96112" y="33832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EEF7"/>
                </a:solidFill>
              </a:rPr>
              <a:t>Aplicación de muestreo, distribuciones, TLC, intervalos de confianza y pruebas de hipótesis.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96112" y="461772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10263A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73659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2.000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9264" y="5029200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B"/>
                </a:solidFill>
              </a:rPr>
              <a:t>población simulada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77440" y="461772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1FA89B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87168" y="473659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400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450592" y="5029200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B"/>
                </a:solidFill>
              </a:rPr>
              <a:t>estudiantes en la muestra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58768" y="4617720"/>
            <a:ext cx="1298448" cy="868680"/>
          </a:xfrm>
          <a:prstGeom prst="roundRect">
            <a:avLst>
              <a:gd name="adj" fmla="val 5263"/>
            </a:avLst>
          </a:prstGeom>
          <a:solidFill>
            <a:srgbClr val="10263A">
              <a:alpha val="9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68496" y="473659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6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3931920" y="5029200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B"/>
                </a:solidFill>
              </a:rPr>
              <a:t>etapas del análisis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96112" y="5897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Juan Carlos Castro Encina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96112" y="61264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F"/>
                </a:solidFill>
              </a:rPr>
              <a:t>Curso de Ciencia de Datos · Módulo 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9B"/>
          </a:solidFill>
          <a:ln w="12700">
            <a:solidFill>
              <a:srgbClr val="1FA89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6"/>
                </a:solidFill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Problema, objetivo y diseño del estudio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1965960" cy="0"/>
          </a:xfrm>
          <a:prstGeom prst="line">
            <a:avLst/>
          </a:prstGeom>
          <a:noFill/>
          <a:ln w="38100">
            <a:solidFill>
              <a:srgbClr val="1F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6537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232F"/>
                </a:solidFill>
              </a:rPr>
              <a:t>El estudio evalúa sueño, alimentación, actividad física y bienestar percibido para detectar patrones estadísticamente relevantes en estudiantes universitarios.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745236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84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</a:rPr>
              <a:t>Ruta analítica del proyecto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23744" y="3675888"/>
            <a:ext cx="146304" cy="237744"/>
          </a:xfrm>
          <a:prstGeom prst="chevron">
            <a:avLst/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44368"/>
            <a:ext cx="1554480" cy="1737360"/>
          </a:xfrm>
          <a:prstGeom prst="roundRect">
            <a:avLst>
              <a:gd name="adj" fmla="val 2941"/>
            </a:avLst>
          </a:prstGeom>
          <a:solidFill>
            <a:srgbClr val="DFF5F2"/>
          </a:solidFill>
          <a:ln w="1524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2724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A"/>
                </a:solidFill>
              </a:rPr>
              <a:t>Problema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3456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Hábitos saludables en jóvenes universitarios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4352544" y="3675888"/>
            <a:ext cx="146304" cy="237744"/>
          </a:xfrm>
          <a:prstGeom prst="chevron">
            <a:avLst/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944368"/>
            <a:ext cx="1554480" cy="1737360"/>
          </a:xfrm>
          <a:prstGeom prst="roundRect">
            <a:avLst>
              <a:gd name="adj" fmla="val 2941"/>
            </a:avLst>
          </a:prstGeom>
          <a:solidFill>
            <a:srgbClr val="F8FBFD"/>
          </a:solidFill>
          <a:ln w="1524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312724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A"/>
                </a:solidFill>
              </a:rPr>
              <a:t>Hipótesis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52928" y="3456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Diferencia de sueño por actividad física y proporción de sueño insuficiente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181344" y="3675888"/>
            <a:ext cx="146304" cy="237744"/>
          </a:xfrm>
          <a:prstGeom prst="chevron">
            <a:avLst/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944368"/>
            <a:ext cx="1554480" cy="1737360"/>
          </a:xfrm>
          <a:prstGeom prst="roundRect">
            <a:avLst>
              <a:gd name="adj" fmla="val 2941"/>
            </a:avLst>
          </a:prstGeom>
          <a:solidFill>
            <a:srgbClr val="DFF5F2"/>
          </a:solidFill>
          <a:ln w="15240">
            <a:solidFill>
              <a:srgbClr val="D7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12724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A"/>
                </a:solidFill>
              </a:rPr>
              <a:t>Muestreo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81728" y="3456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Estratificado por año universitario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400800" y="2944368"/>
            <a:ext cx="1554480" cy="1737360"/>
          </a:xfrm>
          <a:prstGeom prst="roundRect">
            <a:avLst>
              <a:gd name="adj" fmla="val 2941"/>
            </a:avLst>
          </a:prstGeom>
          <a:solidFill>
            <a:srgbClr val="F8FBFD"/>
          </a:solidFill>
          <a:ln w="1524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12724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A"/>
                </a:solidFill>
              </a:rPr>
              <a:t>Inferencia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3456432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Distribuciones, TLC, IC y tests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366760" y="1170432"/>
            <a:ext cx="3246120" cy="4919472"/>
          </a:xfrm>
          <a:prstGeom prst="roundRect">
            <a:avLst>
              <a:gd name="adj" fmla="val 1972"/>
            </a:avLst>
          </a:prstGeom>
          <a:solidFill>
            <a:srgbClr val="EEF5F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4108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Ficha del estudio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41080" y="19202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0848" y="19019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E1B2A"/>
                </a:solidFill>
              </a:rPr>
              <a:t>Población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9070848" y="2121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6"/>
                </a:solidFill>
              </a:rPr>
              <a:t>2.000 estudiantes simulados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641080" y="26700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26517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E1B2A"/>
                </a:solidFill>
              </a:rPr>
              <a:t>Muestra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9070848" y="28712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6"/>
                </a:solidFill>
              </a:rPr>
              <a:t>400 registros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641080" y="34198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0848" y="34015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E1B2A"/>
                </a:solidFill>
              </a:rPr>
              <a:t>Muestreo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9070848" y="3621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6"/>
                </a:solidFill>
              </a:rPr>
              <a:t>Estratificado por año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8641080" y="41696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70848" y="415137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E1B2A"/>
                </a:solidFill>
              </a:rPr>
              <a:t>Variables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9070848" y="4370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6"/>
                </a:solidFill>
              </a:rPr>
              <a:t>20 variables definidas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8641080" y="491947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0848" y="49011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E1B2A"/>
                </a:solidFill>
              </a:rPr>
              <a:t>Pregunta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9070848" y="5120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6"/>
                </a:solidFill>
              </a:rPr>
              <a:t>¿Existen diferencias y relaciones relevantes entre sueño, actividad, alimentación y bienestar?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9B"/>
          </a:solidFill>
          <a:ln w="12700">
            <a:solidFill>
              <a:srgbClr val="1FA89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6"/>
                </a:solidFill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Probabilidad y muestreo estratificado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1691640" cy="0"/>
          </a:xfrm>
          <a:prstGeom prst="line">
            <a:avLst/>
          </a:prstGeom>
          <a:noFill/>
          <a:ln w="38100">
            <a:solidFill>
              <a:srgbClr val="1FA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97280"/>
            <a:ext cx="5852160" cy="5230368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325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</a:rPr>
              <a:t>Árbol de probabilidad</a:t>
            </a:r>
            <a:endParaRPr lang="en-US" sz="1600" dirty="0"/>
          </a:p>
        </p:txBody>
      </p:sp>
      <p:pic>
        <p:nvPicPr>
          <p:cNvPr id="8" name="Image 0" descr="/mnt/data/repo_assets/cell5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13456"/>
            <a:ext cx="5321808" cy="247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20840" y="1097280"/>
            <a:ext cx="4892040" cy="5230368"/>
          </a:xfrm>
          <a:prstGeom prst="roundRect">
            <a:avLst>
              <a:gd name="adj" fmla="val 1308"/>
            </a:avLst>
          </a:prstGeom>
          <a:solidFill>
            <a:srgbClr val="EEF5F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59168" y="1353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Resultados clave de la muestra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059168" y="1810512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59168" y="1810512"/>
            <a:ext cx="146304" cy="749808"/>
          </a:xfrm>
          <a:prstGeom prst="rect">
            <a:avLst/>
          </a:prstGeom>
          <a:solidFill>
            <a:srgbClr val="1FA89B"/>
          </a:solidFill>
          <a:ln w="12700">
            <a:solidFill>
              <a:srgbClr val="1FA89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3488" y="1956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50,5%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394192" y="19751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E6A76"/>
                </a:solidFill>
              </a:rPr>
              <a:t>actividad física suficiente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059168" y="2706624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59168" y="2706624"/>
            <a:ext cx="146304" cy="749808"/>
          </a:xfrm>
          <a:prstGeom prst="rect">
            <a:avLst/>
          </a:prstGeom>
          <a:solidFill>
            <a:srgbClr val="E96B5A"/>
          </a:solidFill>
          <a:ln w="12700">
            <a:solidFill>
              <a:srgbClr val="E96B5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33488" y="28529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70,5%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394192" y="28712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E6A76"/>
                </a:solidFill>
              </a:rPr>
              <a:t>sueño insuficiente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7059168" y="3602736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59168" y="3602736"/>
            <a:ext cx="146304" cy="749808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33488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31,25%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394192" y="3767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E6A76"/>
                </a:solidFill>
              </a:rPr>
              <a:t>actividad suficiente y sueño insuficiente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7059168" y="4498848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59168" y="4498848"/>
            <a:ext cx="146304" cy="749808"/>
          </a:xfrm>
          <a:prstGeom prst="rect">
            <a:avLst/>
          </a:prstGeom>
          <a:solidFill>
            <a:srgbClr val="1FA89B"/>
          </a:solidFill>
          <a:ln w="12700">
            <a:solidFill>
              <a:srgbClr val="1FA89B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33488" y="4645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B2A"/>
                </a:solidFill>
              </a:rPr>
              <a:t>56,25%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394192" y="4663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E6A76"/>
                </a:solidFill>
              </a:rPr>
              <a:t>autopercepción de salud favorable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7086600" y="5577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La muestra se distribuyó por año universitario con n = 98, 95, 79, 69 y 59, manteniendo representación proporcional entre estratos.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9B"/>
          </a:solidFill>
          <a:ln w="12700">
            <a:solidFill>
              <a:srgbClr val="1FA89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6"/>
                </a:solidFill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Distribuciones de probabilidad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1691640" cy="0"/>
          </a:xfrm>
          <a:prstGeom prst="line">
            <a:avLst/>
          </a:prstGeom>
          <a:noFill/>
          <a:ln w="38100">
            <a:solidFill>
              <a:srgbClr val="1FA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97280"/>
            <a:ext cx="3794760" cy="5230368"/>
          </a:xfrm>
          <a:prstGeom prst="roundRect">
            <a:avLst>
              <a:gd name="adj" fmla="val 1687"/>
            </a:avLst>
          </a:prstGeom>
          <a:solidFill>
            <a:srgbClr val="EEF5F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Variables modeladas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18211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110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</a:rPr>
              <a:t>Binomial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13969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Sueño insuficiente en 5 estudiantes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78992" y="2395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</a:rPr>
              <a:t>P(X = 3) = 0,3049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026664"/>
            <a:ext cx="318211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154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9B"/>
                </a:solidFill>
              </a:rPr>
              <a:t>Poisson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338328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Bebidas energéticas por semana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078992" y="36393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</a:rPr>
              <a:t>P(X = 2) = 0,2315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4270248"/>
            <a:ext cx="318211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3982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6B5A"/>
                </a:solidFill>
              </a:rPr>
              <a:t>Normal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462686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Horas de sueño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1078992" y="48828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</a:rPr>
              <a:t>P(X &lt; 6) = 0,2342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E1B2A"/>
                </a:solidFill>
              </a:rPr>
              <a:t>P(6 &lt; X &lt; 8) = 0,7248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7086600" cy="5230368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1353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Visualización de las tres distribuciones</a:t>
            </a:r>
            <a:endParaRPr lang="en-US" sz="1800" dirty="0"/>
          </a:p>
        </p:txBody>
      </p:sp>
      <p:pic>
        <p:nvPicPr>
          <p:cNvPr id="22" name="Image 0" descr="/mnt/data/repo_assets/cell8_ou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312" y="3091924"/>
            <a:ext cx="6537960" cy="17897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9B"/>
          </a:solidFill>
          <a:ln w="12700">
            <a:solidFill>
              <a:srgbClr val="1FA89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6"/>
                </a:solidFill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Teorema del Límite Central (TLC)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2011680" cy="0"/>
          </a:xfrm>
          <a:prstGeom prst="line">
            <a:avLst/>
          </a:prstGeom>
          <a:noFill/>
          <a:ln w="38100">
            <a:solidFill>
              <a:srgbClr val="1FA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97280"/>
            <a:ext cx="6400800" cy="5230368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353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Distribuciones muestrales de la media</a:t>
            </a:r>
            <a:endParaRPr lang="en-US" sz="1800" dirty="0"/>
          </a:p>
        </p:txBody>
      </p:sp>
      <p:pic>
        <p:nvPicPr>
          <p:cNvPr id="8" name="Image 0" descr="/mnt/data/repo_assets/cell11_ou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9677"/>
            <a:ext cx="5870448" cy="41798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50608" y="1097280"/>
            <a:ext cx="4462272" cy="1901952"/>
          </a:xfrm>
          <a:prstGeom prst="roundRect">
            <a:avLst>
              <a:gd name="adj" fmla="val 3365"/>
            </a:avLst>
          </a:prstGeom>
          <a:solidFill>
            <a:srgbClr val="EEF5F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1389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Evidencia cuantitativa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52360" y="176479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A76"/>
                </a:solidFill>
              </a:rPr>
              <a:t>Media poblacional de horas de sueño: 6,5880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A76"/>
                </a:solidFill>
              </a:rPr>
              <a:t>Desviación estándar poblacional: 0,8312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A76"/>
                </a:solidFill>
              </a:rPr>
              <a:t>Media de las medias: 6,5850 (n=5), 6,5887 (n=30), 6,5933 (n=80)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50608" y="3246120"/>
            <a:ext cx="4462272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52360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Al aumentar n...</a:t>
            </a:r>
            <a:endParaRPr lang="en-US" sz="1800" dirty="0"/>
          </a:p>
        </p:txBody>
      </p:sp>
      <p:pic>
        <p:nvPicPr>
          <p:cNvPr id="14" name="Image 1" descr="/mnt/data/repo_assets/cell11_ou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41" y="3840480"/>
            <a:ext cx="3602039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9B"/>
          </a:solidFill>
          <a:ln w="12700">
            <a:solidFill>
              <a:srgbClr val="1FA89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6"/>
                </a:solidFill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Intervalos de confianza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1600200" cy="0"/>
          </a:xfrm>
          <a:prstGeom prst="line">
            <a:avLst/>
          </a:prstGeom>
          <a:noFill/>
          <a:ln w="38100">
            <a:solidFill>
              <a:srgbClr val="1FA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78992"/>
            <a:ext cx="11045952" cy="1417320"/>
          </a:xfrm>
          <a:prstGeom prst="roundRect">
            <a:avLst>
              <a:gd name="adj" fmla="val 4516"/>
            </a:avLst>
          </a:prstGeom>
          <a:solidFill>
            <a:srgbClr val="EEF5FA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298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</a:rPr>
              <a:t>Horas de sueño (95%)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627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A89B"/>
                </a:solidFill>
              </a:rPr>
              <a:t>[6,5087 ; 6,6683] horas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20440" y="142646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E6A76"/>
                </a:solidFill>
              </a:rPr>
              <a:t>Al subir el nivel de confianza, el intervalo se amplía: 90% &lt; 95% &lt; 99%.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5870448" y="129844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</a:rPr>
              <a:t>Actividad física semanal (95%)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70448" y="16276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6B5A"/>
                </a:solidFill>
              </a:rPr>
              <a:t>[156,76 ; 176,29] minutos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098280" y="142646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E6A76"/>
                </a:solidFill>
              </a:rPr>
              <a:t>Cuando el tamaño muestral aumenta, el ancho del IC disminuye con claridad.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66928" y="2670048"/>
            <a:ext cx="539496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670048"/>
            <a:ext cx="5394960" cy="3767328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944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</a:rPr>
              <a:t>Impacto del nivel de confianza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0528" y="2944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</a:rPr>
              <a:t>Impacto del tamaño muestral</a:t>
            </a:r>
            <a:endParaRPr lang="en-US" sz="1600" dirty="0"/>
          </a:p>
        </p:txBody>
      </p:sp>
      <p:pic>
        <p:nvPicPr>
          <p:cNvPr id="17" name="Image 0" descr="/mnt/data/repo_assets/cell14_ou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90" y="3310128"/>
            <a:ext cx="4598347" cy="2743200"/>
          </a:xfrm>
          <a:prstGeom prst="rect">
            <a:avLst/>
          </a:prstGeom>
        </p:spPr>
      </p:pic>
      <p:pic>
        <p:nvPicPr>
          <p:cNvPr id="18" name="Image 1" descr="/mnt/data/repo_assets/cell14_out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614" y="3310128"/>
            <a:ext cx="460299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A89B"/>
          </a:solidFill>
          <a:ln w="12700">
            <a:solidFill>
              <a:srgbClr val="1FA89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7572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6A76"/>
                </a:solidFill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de hipótesis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1536192" cy="0"/>
          </a:xfrm>
          <a:prstGeom prst="line">
            <a:avLst/>
          </a:prstGeom>
          <a:noFill/>
          <a:ln w="38100">
            <a:solidFill>
              <a:srgbClr val="1FA8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43000"/>
            <a:ext cx="5440680" cy="5303520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99632" y="1143000"/>
            <a:ext cx="5440680" cy="5303520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444752"/>
            <a:ext cx="1508760" cy="384048"/>
          </a:xfrm>
          <a:prstGeom prst="roundRect">
            <a:avLst>
              <a:gd name="adj" fmla="val 9524"/>
            </a:avLst>
          </a:prstGeom>
          <a:solidFill>
            <a:srgbClr val="DFF5F2"/>
          </a:solidFill>
          <a:ln w="12700">
            <a:solidFill>
              <a:srgbClr val="DF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545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A89B"/>
                </a:solidFill>
              </a:rPr>
              <a:t>t de Welch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Horas de sueño según actividad física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2677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A76"/>
                </a:solidFill>
              </a:rPr>
              <a:t>H0: no existe diferencia entre grupos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A76"/>
                </a:solidFill>
              </a:rPr>
              <a:t>H1: sí existe diferencia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044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89B"/>
                </a:solidFill>
              </a:rPr>
              <a:t>6,7529 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33284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6"/>
                </a:solidFill>
              </a:rPr>
              <a:t>actividad suficiente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23160" y="3246120"/>
            <a:ext cx="1097280" cy="0"/>
          </a:xfrm>
          <a:prstGeom prst="line">
            <a:avLst/>
          </a:prstGeom>
          <a:noFill/>
          <a:ln w="254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9900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1B2A"/>
                </a:solidFill>
              </a:rPr>
              <a:t>Δ = 0,3321 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76472" y="3044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6B5A"/>
                </a:solidFill>
              </a:rPr>
              <a:t>6,4208 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03320" y="33284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6"/>
                </a:solidFill>
              </a:rPr>
              <a:t>actividad insuficiente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E1B2A"/>
                </a:solidFill>
              </a:rPr>
              <a:t>t = 4,1823 · p = 0,000036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0E1B2A"/>
                </a:solidFill>
              </a:rPr>
              <a:t>Decisión: rechazar H0 (α = 0,05)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868680" y="4983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E6A76"/>
                </a:solidFill>
              </a:rPr>
              <a:t>Existe evidencia suficiente para afirmar una diferencia estadísticamente significativa en el promedio de horas de sueño.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473952" y="1444752"/>
            <a:ext cx="1572768" cy="384048"/>
          </a:xfrm>
          <a:prstGeom prst="roundRect">
            <a:avLst>
              <a:gd name="adj" fmla="val 9524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154533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A66C00"/>
                </a:solidFill>
              </a:rPr>
              <a:t>z de proporción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510528" y="1938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</a:rPr>
              <a:t>Sueño insuficiente en la población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10528" y="22677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A76"/>
                </a:solidFill>
              </a:rPr>
              <a:t>H0: la proporción es ≤ 0,50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A76"/>
                </a:solidFill>
              </a:rPr>
              <a:t>H1: la proporción es &gt; 0,50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01968" y="2971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B84B"/>
                </a:solidFill>
              </a:rPr>
              <a:t>70,5%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565392" y="33467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proporción observada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282 de 400 estudiantes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8430768" y="32186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A76"/>
                </a:solidFill>
              </a:rPr>
              <a:t>vs.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98280" y="2971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A89B"/>
                </a:solidFill>
              </a:rPr>
              <a:t>50%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979408" y="334670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E6A76"/>
                </a:solidFill>
              </a:rPr>
              <a:t>proporción bajo H0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6510528" y="41148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0E1B2A"/>
                </a:solidFill>
              </a:rPr>
              <a:t>z = 8,20 · p &lt; 0,001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0E1B2A"/>
                </a:solidFill>
              </a:rPr>
              <a:t>Decisión: rechazar H0 (α = 0,05)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6510528" y="4983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E6A76"/>
                </a:solidFill>
              </a:rPr>
              <a:t>La evidencia respalda que la proporción de estudiantes con sueño insuficiente es mayor al 50%.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777240"/>
            <a:ext cx="10771632" cy="5074920"/>
          </a:xfrm>
          <a:prstGeom prst="roundRect">
            <a:avLst>
              <a:gd name="adj" fmla="val 1261"/>
            </a:avLst>
          </a:prstGeom>
          <a:solidFill>
            <a:srgbClr val="10263A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4B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El proyecto muestra una aplicación completa de la inferencia estadística a un problema de bienestar estudiantil.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78992" y="24505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24231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 muestra evidenció una alta prevalencia de sueño insuficiente (70,5%).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8992" y="316382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31363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 actividad física suficiente se asoció con más horas de sueño promedio.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992" y="38770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FA89B"/>
          </a:solidFill>
          <a:ln w="12700">
            <a:solidFill>
              <a:srgbClr val="1FA8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384962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El TLC y los intervalos de confianza mostraron cómo la precisión mejora con muestras mayores.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8992" y="459028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456285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Las pruebas de hipótesis respaldaron conclusiones estadísticas claras con α = 0,05.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38360" y="5074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9F7"/>
                </a:solidFill>
              </a:rPr>
              <a:t>Preguntas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464040" y="54864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Gracias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Módulo 5 - Presentación</dc:title>
  <dc:subject>Proyecto Módulo 5 - Inferencia Estadística</dc:subject>
  <dc:creator>OpenAI</dc:creator>
  <cp:lastModifiedBy>OpenAI</cp:lastModifiedBy>
  <cp:revision>1</cp:revision>
  <dcterms:created xsi:type="dcterms:W3CDTF">2026-04-10T04:52:31Z</dcterms:created>
  <dcterms:modified xsi:type="dcterms:W3CDTF">2026-04-10T04:52:31Z</dcterms:modified>
</cp:coreProperties>
</file>